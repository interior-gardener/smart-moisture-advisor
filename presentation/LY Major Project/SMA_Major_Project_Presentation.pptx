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F9Nbm/PXvL9U+3t3AJwWYRrQ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Students: Kartik Verma and Kushal Soni. Guide: Dr. Nilesh Yadav. Institution and department follow the supplied template and report/build_report.js. Project title follows README.md and package.json. No other student or guide attribution is retained.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This outline follows the major-project template structure and covers the implemented SMA application.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README.md, src/app.js, src/engine/advisory.js, src/engine/i18n.js, ml/train.py. Models estimate generated targets rather than measured field outcomes. Feedback is logged but not automatically used in training.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[1] R. G. Allen, L. S. Pereira, D. Raes, and M. Smith, Crop Evapotranspiration: Guidelines for Computing Crop Water Requirements, FAO Irrigation and Drainage Paper 56. Rome: FAO, 1998. https://www.fao.org/4/x0490e/x0490e00.htm</a:t>
            </a:r>
          </a:p>
          <a:p>
            <a:r>
              <a:t>[2] J. Doorenbos and A. H. Kassam, Yield Response to Water, FAO Irrigation and Drainage Paper 33. Rome: FAO, 1979. Bibliographic record: https://www.fao.org/4/y3655e/y3655e03.htm</a:t>
            </a:r>
          </a:p>
          <a:p>
            <a:r>
              <a:t>[3] C. Kamienski et al., "Smart Water Management Platform: IoT-Based Precision Irrigation for Agriculture," Sensors, vol. 19, no. 2, article 276, 2019. doi: 10.3390/s19020276. https://www.mdpi.com/1424-8220/19/2/276</a:t>
            </a:r>
          </a:p>
          <a:p>
            <a:r>
              <a:t>[4] L. Breiman, "Random forests," Machine Learning, vol. 45, pp. 5-32, 2001. doi: 10.1023/A:1010933404324. https://doi.org/10.1023/A:1010933404324</a:t>
            </a:r>
          </a:p>
          <a:p>
            <a:r>
              <a:t>[5] J. H. Friedman, "Greedy function approximation: A gradient boosting machine," The Annals of Statistics, vol. 29, no. 5, pp. 1189-1232, 2001. doi: 10.1214/aos/1013203451. https://doi.org/10.1214/aos/1013203451</a:t>
            </a:r>
          </a:p>
          <a:p>
            <a:r>
              <a:t>[6] F. Pedregosa et al., "Scikit-learn: Machine Learning in Python," Journal of Machine Learning Research, vol. 12, pp. 2825-2830, 2011. https://www.jmlr.org/papers/v12/pedregosa11a.html</a:t>
            </a:r>
          </a:p>
          <a:p>
            <a:r>
              <a:t>Comparative gaps are scoped to this implementation. No head-to-head evaluation with SWAMP or other irrigation platforms was performed.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Architecture derived from ml/train.py, src/data/farms.js, src/ml/registry.js, src/ml/treeEnsemble.js, src/app.js and src/engine/. Offline training exports JSON. Runtime prediction occurs locally in Node.js. Feedback is appended to JSONL, not fed automatically into training.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ml/train.py and ml/agronomy.py. Label generation is supervised learning from a simulated agronomic teacher, not a physics-informed neural network. NDVI imputation currently precedes the grouped split. WSPT is a heuristic for parallel lanes and power windows, not a proof of optimal constrained scheduling.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Actual screenshot crops from presentation/screenshots/03_advisor.png and 02b_map_zoom.png. Example MM-MD-0110 is in the summer dry-spell scenario: 22.4 hours pumping, 1,120 cubic metres, 100.2 t/ha predicted yield, 1.55% predicted loss after a five-day delay. These values are scenario outputs, not measured farm outcomes. Capture date in the original screenshot: 30 September 2026. Chatbot: src/engine/chat.js.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Source: models/metrics.json. Regression baselines are Linear Regression, classifiers use Logistic Regression. Timing baseline MAE 2.5796 days, ensemble 0.6942 days. Scheduler: report/data/results.json, schedule key, Hosur, 20 pumps, windows 06:00-10:00 and 17:00-20:00, three days. Optimised estimated cane loss 80.23 t, FCFS 85.60 t. Software tests: 23 passed on 19 October 2026. Results assess generated labels and scenario simulations, with no field trial.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current source code, models/metrics.json, report/data/extra.json and execution of node --test test/api.test.js test/engine.test.js test/models.test.js. Live feed connectors, authenticated production operation and automatic feedback retraining are proposed work.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[1] R. G. Allen, L. S. Pereira, D. Raes, and M. Smith, Crop Evapotranspiration: Guidelines for Computing Crop Water Requirements, FAO Irrigation and Drainage Paper 56. Rome: FAO, 1998. https://www.fao.org/4/x0490e/x0490e00.htm</a:t>
            </a:r>
          </a:p>
          <a:p>
            <a:r>
              <a:t>[2] J. Doorenbos and A. H. Kassam, Yield Response to Water, FAO Irrigation and Drainage Paper 33. Rome: FAO, 1979. Bibliographic record: https://www.fao.org/4/y3655e/y3655e03.htm</a:t>
            </a:r>
          </a:p>
          <a:p>
            <a:r>
              <a:t>[3] C. Kamienski et al., "Smart Water Management Platform: IoT-Based Precision Irrigation for Agriculture," Sensors, vol. 19, no. 2, article 276, 2019. doi: 10.3390/s19020276. https://www.mdpi.com/1424-8220/19/2/276</a:t>
            </a:r>
          </a:p>
          <a:p>
            <a:r>
              <a:t>[4] L. Breiman, "Random forests," Machine Learning, vol. 45, pp. 5-32, 2001. doi: 10.1023/A:1010933404324. https://doi.org/10.1023/A:1010933404324</a:t>
            </a:r>
          </a:p>
          <a:p>
            <a:r>
              <a:t>[5] J. H. Friedman, "Greedy function approximation: A gradient boosting machine," The Annals of Statistics, vol. 29, no. 5, pp. 1189-1232, 2001. doi: 10.1214/aos/1013203451. https://doi.org/10.1214/aos/1013203451</a:t>
            </a:r>
          </a:p>
          <a:p>
            <a:r>
              <a:t>[6] F. Pedregosa et al., "Scikit-learn: Machine Learning in Python," Journal of Machine Learning Research, vol. 12, pp. 2825-2830, 2011. https://www.jmlr.org/papers/v12/pedregosa11a.html</a:t>
            </a:r>
          </a:p>
          <a:p>
            <a:r>
              <a:t>[7] Scikit-learn developers, "GroupShuffleSplit," official API documentation. https://scikit-learn.org/stable/modules/generated/sklearn.model_selection.GroupShuffleSplit.html</a:t>
            </a:r>
          </a:p>
          <a:p>
            <a:r>
              <a:t>[8] Express contributors, "Express 5.x API," official documentation. https://expressjs.com/en/5x/api.html</a:t>
            </a:r>
          </a:p>
          <a:p>
            <a:r>
              <a:t>[9] Leaflet contributors, "Leaflet API reference," official documentation. https://leafletjs.com/reference.html</a:t>
            </a:r>
          </a:p>
          <a:p>
            <a:r>
              <a:t>[10] K. Verma and K. Soni, Smart Moisture Advisor, project implementation and repository artifacts, Interior-Gardener/SMA, local main checkout reviewed 19 October 2026. https://github.com/Interior-Gardener/SMA. Evidence: ml/train.py, ml/agronomy.py, src/, models/metrics.json, models/test_fixtures.json, report/data/results.json, report/data/extra.json, and presentation/screenshots/.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Students: Kartik Verma and Kushal Soni. Project Guide: Dr. Nilesh Yadav.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1002" Type="http://schemas.openxmlformats.org/officeDocument/2006/relationships/image" Target="../media/sma_architecture.png"/><Relationship Id="rIdSMANotes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1002" Type="http://schemas.openxmlformats.org/officeDocument/2006/relationships/image" Target="../media/sma_advisor.png"/><Relationship Id="rIdSMA1004" Type="http://schemas.openxmlformats.org/officeDocument/2006/relationships/image" Target="../media/sma_map.png"/><Relationship Id="rIdSMANotes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SMA shape 1001"/>
          <p:cNvSpPr txBox="1"/>
          <p:nvPr/>
        </p:nvSpPr>
        <p:spPr>
          <a:xfrm>
            <a:off x="1371600" y="1481328"/>
            <a:ext cx="1051560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Title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417320" y="2148840"/>
            <a:ext cx="1037844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Smart Moisture Advisor (SMA)</a:t>
            </a:r>
            <a:endParaRPr sz="3000"/>
          </a:p>
        </p:txBody>
      </p:sp>
      <p:sp>
        <p:nvSpPr>
          <p:cNvPr id="1003" name="SMA shape 1003"/>
          <p:cNvSpPr txBox="1"/>
          <p:nvPr/>
        </p:nvSpPr>
        <p:spPr>
          <a:xfrm>
            <a:off x="1417320" y="2761488"/>
            <a:ext cx="1037844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AI-driven irrigation advisory system for sugarcane</a:t>
            </a:r>
            <a:endParaRPr sz="2500"/>
          </a:p>
        </p:txBody>
      </p:sp>
      <p:sp>
        <p:nvSpPr>
          <p:cNvPr id="1004" name="SMA shape 1004"/>
          <p:cNvSpPr txBox="1"/>
          <p:nvPr/>
        </p:nvSpPr>
        <p:spPr>
          <a:xfrm>
            <a:off x="1417320" y="3675888"/>
            <a:ext cx="10378440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Members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Kartik Verma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Kushal Soni</a:t>
            </a:r>
            <a:endParaRPr sz="2500"/>
          </a:p>
        </p:txBody>
      </p:sp>
      <p:sp>
        <p:nvSpPr>
          <p:cNvPr id="1005" name="SMA shape 1005"/>
          <p:cNvSpPr txBox="1"/>
          <p:nvPr/>
        </p:nvSpPr>
        <p:spPr>
          <a:xfrm>
            <a:off x="1417320" y="5120640"/>
            <a:ext cx="103784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Guide: Dr. Nilesh Yadav</a:t>
            </a:r>
            <a:endParaRPr sz="2500"/>
          </a:p>
        </p:txBody>
      </p:sp>
      <p:sp>
        <p:nvSpPr>
          <p:cNvPr id="1006" name="SMA shape 1006"/>
          <p:cNvSpPr txBox="1"/>
          <p:nvPr/>
        </p:nvSpPr>
        <p:spPr>
          <a:xfrm>
            <a:off x="1417320" y="5806440"/>
            <a:ext cx="1037844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Engineering   2026-27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057400"/>
            <a:ext cx="10149840" cy="40233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Summary / Finding of Literature Survey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Design &amp; Architecture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Methodology and Implementation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Outputs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103120"/>
            <a:ext cx="10241280" cy="40690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 supports sugarcane irrigation decisions for 1,000 plots in Mandya, Karnataka.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 vegetation, soil and climate inputs produce irrigation timing, water volume and pump duration.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interface links rain-aware advice with fertigation, risk estimates, a map and pump scheduling.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Seven predictive models learn agronomy-generated labels. Field outcomes remain unverified.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Advisories support English, Kannada, Hindi and Marathi, with accept or override feedback.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Summary / Finding of Literature Survey</a:t>
            </a:r>
            <a:endParaRPr sz="3200"/>
          </a:p>
        </p:txBody>
      </p:sp>
      <p:graphicFrame>
        <p:nvGraphicFramePr>
          <p:cNvPr id="1002" name="SMA editable table"/>
          <p:cNvGraphicFramePr/>
          <p:nvPr/>
        </p:nvGraphicFramePr>
        <p:xfrm>
          <a:off x="1435608" y="2057400"/>
          <a:ext cx="10332720" cy="4005072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3703320"/>
                <a:gridCol w="4160520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Source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Approach or finding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Gap relative to SMA scope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Allen et al. [1]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FAO crop water balance and ET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Requires suitable local inputs and calibration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Doorenbos and Kassam [2]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Yield response to water deficit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Does not provide an integrated plot interface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Kamienski et al. [3]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SWAMP IoT platform and pilots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Deployment and scaling require infrastructure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Breiman [4] and Friedman [5]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Random Forest and Gradient Boosting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Require representative targets and evaluation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Current project [10]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Integrates advice, maps and scheduling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Independent field validation is still needed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03" name="SMA shape 1003"/>
          <p:cNvSpPr txBox="1"/>
          <p:nvPr/>
        </p:nvSpPr>
        <p:spPr>
          <a:xfrm>
            <a:off x="1463040" y="6172200"/>
            <a:ext cx="1024128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comparison identifies project requirements, without claiming superiority over the cited systems.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 &amp; Architecture</a:t>
            </a:r>
            <a:endParaRPr sz="3200"/>
          </a:p>
        </p:txBody>
      </p:sp>
      <p:pic>
        <p:nvPicPr>
          <p:cNvPr id="1002" name="SMA architecture" descr="Architecture derived from source code"/>
          <p:cNvPicPr/>
          <p:nvPr/>
        </p:nvPicPr>
        <p:blipFill>
          <a:blip r:embed="rIdSMA1002"/>
          <a:stretch>
            <a:fillRect/>
          </a:stretch>
        </p:blipFill>
        <p:spPr>
          <a:xfrm>
            <a:off x="2728807" y="2011680"/>
            <a:ext cx="7755467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Proposed Methodology and Implementation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057400"/>
            <a:ext cx="5897880" cy="41605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Clean plot data and create twelve scenarios per plot.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noisy FAO-based labels for irrigation, crop demand and risk.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Split by plot: 800 training plots and 200 held-out plots.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ensembles, compare linear or logistic baselines, then export JSON.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 predictions through Express and apply hydraulics, fertigation and scheduling rules.</a:t>
            </a:r>
            <a:endParaRPr sz="2200"/>
          </a:p>
        </p:txBody>
      </p:sp>
      <p:sp>
        <p:nvSpPr>
          <p:cNvPr id="1003" name="SMA shape 1003"/>
          <p:cNvSpPr txBox="1"/>
          <p:nvPr/>
        </p:nvSpPr>
        <p:spPr>
          <a:xfrm>
            <a:off x="7909560" y="2084832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1,000 plot records</a:t>
            </a:r>
            <a:endParaRPr sz="1900"/>
          </a:p>
        </p:txBody>
      </p:sp>
      <p:sp>
        <p:nvSpPr>
          <p:cNvPr id="1004" name="SMA shape 1004"/>
          <p:cNvSpPr txBox="1"/>
          <p:nvPr/>
        </p:nvSpPr>
        <p:spPr>
          <a:xfrm>
            <a:off x="9646920" y="2633472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5" name="SMA shape 1005"/>
          <p:cNvSpPr txBox="1"/>
          <p:nvPr/>
        </p:nvSpPr>
        <p:spPr>
          <a:xfrm>
            <a:off x="7909560" y="2871216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12,000 generated scenarios</a:t>
            </a:r>
            <a:endParaRPr sz="1900"/>
          </a:p>
        </p:txBody>
      </p:sp>
      <p:sp>
        <p:nvSpPr>
          <p:cNvPr id="1006" name="SMA shape 1006"/>
          <p:cNvSpPr txBox="1"/>
          <p:nvPr/>
        </p:nvSpPr>
        <p:spPr>
          <a:xfrm>
            <a:off x="9646920" y="3419856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7" name="SMA shape 1007"/>
          <p:cNvSpPr txBox="1"/>
          <p:nvPr/>
        </p:nvSpPr>
        <p:spPr>
          <a:xfrm>
            <a:off x="7909560" y="3657600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Grouped train / test evaluation</a:t>
            </a:r>
            <a:endParaRPr sz="1900"/>
          </a:p>
        </p:txBody>
      </p:sp>
      <p:sp>
        <p:nvSpPr>
          <p:cNvPr id="1008" name="SMA shape 1008"/>
          <p:cNvSpPr txBox="1"/>
          <p:nvPr/>
        </p:nvSpPr>
        <p:spPr>
          <a:xfrm>
            <a:off x="9646920" y="4206240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9" name="SMA shape 1009"/>
          <p:cNvSpPr txBox="1"/>
          <p:nvPr/>
        </p:nvSpPr>
        <p:spPr>
          <a:xfrm>
            <a:off x="7909560" y="4443984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JSON model export</a:t>
            </a:r>
            <a:endParaRPr sz="1900"/>
          </a:p>
        </p:txBody>
      </p:sp>
      <p:sp>
        <p:nvSpPr>
          <p:cNvPr id="1010" name="SMA shape 1010"/>
          <p:cNvSpPr txBox="1"/>
          <p:nvPr/>
        </p:nvSpPr>
        <p:spPr>
          <a:xfrm>
            <a:off x="9646920" y="4992624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11" name="SMA shape 1011"/>
          <p:cNvSpPr txBox="1"/>
          <p:nvPr/>
        </p:nvSpPr>
        <p:spPr>
          <a:xfrm>
            <a:off x="7909560" y="5230368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JavaScript advisory and scheduler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Application Outputs</a:t>
            </a:r>
            <a:endParaRPr sz="3200"/>
          </a:p>
        </p:txBody>
      </p:sp>
      <p:pic>
        <p:nvPicPr>
          <p:cNvPr id="1002" name="SMA advisor" descr="Actual application screenshot crop"/>
          <p:cNvPicPr/>
          <p:nvPr/>
        </p:nvPicPr>
        <p:blipFill>
          <a:blip r:embed="rIdSMA1002"/>
          <a:stretch>
            <a:fillRect/>
          </a:stretch>
        </p:blipFill>
        <p:spPr>
          <a:xfrm>
            <a:off x="1711757" y="2057400"/>
            <a:ext cx="4486046" cy="2514600"/>
          </a:xfrm>
          <a:prstGeom prst="rect">
            <a:avLst/>
          </a:prstGeom>
        </p:spPr>
      </p:pic>
      <p:sp>
        <p:nvSpPr>
          <p:cNvPr id="1003" name="SMA shape 1003"/>
          <p:cNvSpPr txBox="1"/>
          <p:nvPr/>
        </p:nvSpPr>
        <p:spPr>
          <a:xfrm>
            <a:off x="1463040" y="4617720"/>
            <a:ext cx="49834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 advice, yield, fertigation and risk</a:t>
            </a:r>
            <a:endParaRPr sz="1800"/>
          </a:p>
        </p:txBody>
      </p:sp>
      <p:pic>
        <p:nvPicPr>
          <p:cNvPr id="1004" name="SMA map" descr="Actual application screenshot crop"/>
          <p:cNvPicPr/>
          <p:nvPr/>
        </p:nvPicPr>
        <p:blipFill>
          <a:blip r:embed="rIdSMA1004"/>
          <a:stretch>
            <a:fillRect/>
          </a:stretch>
        </p:blipFill>
        <p:spPr>
          <a:xfrm>
            <a:off x="6917167" y="2057400"/>
            <a:ext cx="4545106" cy="2514600"/>
          </a:xfrm>
          <a:prstGeom prst="rect">
            <a:avLst/>
          </a:prstGeom>
        </p:spPr>
      </p:pic>
      <p:sp>
        <p:nvSpPr>
          <p:cNvPr id="1005" name="SMA shape 1005"/>
          <p:cNvSpPr txBox="1"/>
          <p:nvPr/>
        </p:nvSpPr>
        <p:spPr>
          <a:xfrm>
            <a:off x="6812280" y="4617720"/>
            <a:ext cx="4754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Geofenced plots coloured by stress</a:t>
            </a:r>
            <a:endParaRPr sz="1800"/>
          </a:p>
        </p:txBody>
      </p:sp>
      <p:sp>
        <p:nvSpPr>
          <p:cNvPr id="1006" name="SMA shape 1006"/>
          <p:cNvSpPr txBox="1"/>
          <p:nvPr/>
        </p:nvSpPr>
        <p:spPr>
          <a:xfrm>
            <a:off x="1508760" y="5148072"/>
            <a:ext cx="10104120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What-if Simulator recomputes outputs when field conditions change.</a:t>
            </a:r>
            <a:endParaRPr sz="20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Krishi Mitra uses keyword intent detection in four supported languages.</a:t>
            </a:r>
            <a:endParaRPr sz="20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and supervisors can accept or override the recommendation.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3200"/>
          </a:p>
        </p:txBody>
      </p:sp>
      <p:graphicFrame>
        <p:nvGraphicFramePr>
          <p:cNvPr id="1002" name="SMA editable table"/>
          <p:cNvGraphicFramePr/>
          <p:nvPr/>
        </p:nvGraphicFramePr>
        <p:xfrm>
          <a:off x="1435608" y="2057400"/>
          <a:ext cx="7543800" cy="3145536"/>
        </p:xfrm>
        <a:graphic>
          <a:graphicData uri="http://schemas.openxmlformats.org/drawingml/2006/table">
            <a:tbl>
              <a:tblPr firstRow="1" bandRow="1"/>
              <a:tblGrid>
                <a:gridCol w="3520440"/>
                <a:gridCol w="2011680"/>
                <a:gridCol w="201168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Target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Ensemble score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Baseline score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Irrigation timing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0.9646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0.7444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Crop water requirement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0.9768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0.8843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Irrigation depth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0.9745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0.6206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Cane yield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0.8918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0.5709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Delay loss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0.9755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0.4990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Water stress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87.83%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83.46%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Disease risk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87.29%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81.96%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03" name="SMA shape 1003"/>
          <p:cNvSpPr txBox="1"/>
          <p:nvPr/>
        </p:nvSpPr>
        <p:spPr>
          <a:xfrm>
            <a:off x="9171432" y="2331720"/>
            <a:ext cx="246888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Hosur schedule</a:t>
            </a:r>
            <a:endParaRPr sz="2100"/>
          </a:p>
        </p:txBody>
      </p:sp>
      <p:sp>
        <p:nvSpPr>
          <p:cNvPr id="1004" name="SMA shape 1004"/>
          <p:cNvSpPr txBox="1"/>
          <p:nvPr/>
        </p:nvSpPr>
        <p:spPr>
          <a:xfrm>
            <a:off x="9171432" y="3063240"/>
            <a:ext cx="246888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5.37 t</a:t>
            </a:r>
            <a:endParaRPr sz="3200"/>
          </a:p>
        </p:txBody>
      </p:sp>
      <p:sp>
        <p:nvSpPr>
          <p:cNvPr id="1005" name="SMA shape 1005"/>
          <p:cNvSpPr txBox="1"/>
          <p:nvPr/>
        </p:nvSpPr>
        <p:spPr>
          <a:xfrm>
            <a:off x="9171432" y="3794760"/>
            <a:ext cx="2468880" cy="13258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less estimated cane loss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 plots completed vs 5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 pumps over 3 days</a:t>
            </a:r>
            <a:endParaRPr sz="1800"/>
          </a:p>
        </p:txBody>
      </p:sp>
      <p:sp>
        <p:nvSpPr>
          <p:cNvPr id="1006" name="SMA shape 1006"/>
          <p:cNvSpPr txBox="1"/>
          <p:nvPr/>
        </p:nvSpPr>
        <p:spPr>
          <a:xfrm>
            <a:off x="1508760" y="5623560"/>
            <a:ext cx="1005840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R-squared for regression, accuracy for classifiers. Timing MAE: 0.6942 days.</a:t>
            </a:r>
            <a:endParaRPr sz="19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Evaluation uses generated labels on held-out plots. Savings and cane loss are scenario estimates.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103120"/>
            <a:ext cx="10241280" cy="40690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 integrates plot-level prediction, irrigation advice and power-window scheduling in a working web prototype.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JSON model export supports local JavaScript inference. All 23 existing software tests pass.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saved metrics show agreement with generated agronomic labels. Independent field validation is the main next step.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work: measured irrigation and yield records, verified weather feeds, actual planting dates and calibrated uncertainty.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Operational development: agronomist review, field pilots, role-based access and a reviewed retraining workflow.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481328" y="2057400"/>
            <a:ext cx="10149840" cy="42519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Allen et al., Crop Evapotranspiration, FAO Paper 56, 1998. fao.org/4/x0490e/x0490e00.htm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Doorenbos and Kassam, Yield Response to Water, FAO Paper 33, 1979.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Kamienski et al., Smart Water Management Platform, Sensors 19(2), 276, 2019. doi:10.3390/s19020276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Breiman, Random forests, Machine Learning 45, 5-32, 2001. doi:10.1023/A:1010933404324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Friedman, A gradient boosting machine, Annals of Statistics 29(5), 1189-1232, 2001. doi:10.1214/aos/1013203451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Pedregosa et al., Scikit-learn, JMLR 12, 2825-2830, 2011. jmlr.org/papers/v12/pedregosa11a.html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Scikit-learn developers, GroupShuffleSplit API. scikit-learn.org/stable/modules/generated/sklearn.model_selection.GroupShuffleSplit.html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 Express contributors, Express 5.x API. expressjs.com/en/5x/api/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Leaflet contributors, Leaflet API reference. leafletjs.com/reference.html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 Verma and Soni, Smart Moisture Advisor source and saved outputs. github.com/Interior-Gardener/SMA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463040" y="2651760"/>
            <a:ext cx="1014984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4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4400"/>
          </a:p>
        </p:txBody>
      </p:sp>
      <p:sp>
        <p:nvSpPr>
          <p:cNvPr id="1002" name="SMA shape 1002"/>
          <p:cNvSpPr txBox="1"/>
          <p:nvPr/>
        </p:nvSpPr>
        <p:spPr>
          <a:xfrm>
            <a:off x="1463040" y="3749040"/>
            <a:ext cx="1014984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Smart Moisture Advisor</a:t>
            </a:r>
            <a:endParaRPr sz="3000"/>
          </a:p>
        </p:txBody>
      </p:sp>
      <p:sp>
        <p:nvSpPr>
          <p:cNvPr id="1003" name="SMA shape 1003"/>
          <p:cNvSpPr txBox="1"/>
          <p:nvPr/>
        </p:nvSpPr>
        <p:spPr>
          <a:xfrm>
            <a:off x="1463040" y="4709160"/>
            <a:ext cx="10149840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Kartik Verma and Kushal Soni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Guide: Dr. Nilesh Yadav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1BD8BD-466E-4908-8563-2001348EBEE5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601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1_Office Theme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Kartik Verma and Kushal Soni</dc:creator>
  <cp:lastModifiedBy>COMP_FY_B_62_23/24_VERMA_KARTIK</cp:lastModifiedBy>
  <cp:revision>5</cp:revision>
  <dcterms:modified xsi:type="dcterms:W3CDTF">2026-10-19T14:34:41Z</dcterms:modified>
  <dc:title>Smart Moisture Advisor</dc:title>
  <dc:subject>Major project presentation</dc:subject>
</cp:coreProperties>
</file>