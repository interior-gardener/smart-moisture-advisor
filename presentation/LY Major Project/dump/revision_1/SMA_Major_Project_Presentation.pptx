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F9Nbm/PXvL9U+3t3AJwWYRrQ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Students: Kartik Verma and Kushal Soni. Guide: Dr. Nilesh Yadav. Institution and department follow the supplied template and report/build_report.js. Project title follows README.md and package.json. No other student or guide attribution is retained.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The template outline is retained in order. The original video section is replaced by actual application outputs, as requested. The demo is a separate deliverable.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README.md, src/app.js, src/engine/advisory.js, src/engine/i18n.js, ml/train.py. Models estimate generated targets rather than measured field outcomes. Feedback is logged but not automatically used in training.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[1] R. G. Allen, L. S. Pereira, D. Raes, and M. Smith, Crop Evapotranspiration: Guidelines for Computing Crop Water Requirements, FAO Irrigation and Drainage Paper 56. Rome: FAO, 1998. https://www.fao.org/4/x0490e/x0490e00.htm</a:t>
            </a:r>
          </a:p>
          <a:p>
            <a:r>
              <a:t>[2] J. Doorenbos and A. H. Kassam, Yield Response to Water, FAO Irrigation and Drainage Paper 33. Rome: FAO, 1979. Bibliographic record: https://www.fao.org/4/y3655e/y3655e03.htm</a:t>
            </a:r>
          </a:p>
          <a:p>
            <a:r>
              <a:t>[3] C. Kamienski et al., "Smart Water Management Platform: IoT-Based Precision Irrigation for Agriculture," Sensors, vol. 19, no. 2, article 276, 2019. doi: 10.3390/s19020276. https://www.mdpi.com/1424-8220/19/2/276</a:t>
            </a:r>
          </a:p>
          <a:p>
            <a:r>
              <a:t>[4] L. Breiman, "Random forests," Machine Learning, vol. 45, pp. 5-32, 2001. doi: 10.1023/A:1010933404324. https://doi.org/10.1023/A:1010933404324</a:t>
            </a:r>
          </a:p>
          <a:p>
            <a:r>
              <a:t>[5] J. H. Friedman, "Greedy function approximation: A gradient boosting machine," The Annals of Statistics, vol. 29, no. 5, pp. 1189-1232, 2001. doi: 10.1214/aos/1013203451. https://doi.org/10.1214/aos/1013203451</a:t>
            </a:r>
          </a:p>
          <a:p>
            <a:r>
              <a:t>[6] F. Pedregosa et al., "Scikit-learn: Machine Learning in Python," Journal of Machine Learning Research, vol. 12, pp. 2825-2830, 2011. https://www.jmlr.org/papers/v12/pedregosa11a.html</a:t>
            </a:r>
          </a:p>
          <a:p>
            <a:r>
              <a:t>Comparative gaps are scoped to this implementation. No head-to-head evaluation with SWAMP or other irrigation platforms was performed.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Architecture derived from ml/train.py, src/data/farms.js, src/ml/registry.js, src/ml/treeEnsemble.js, src/app.js and src/engine/. Offline training exports JSON. Runtime prediction occurs locally in Node.js. Feedback is appended to JSONL, not fed automatically into training.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ml/train.py and ml/agronomy.py. Label generation is supervised learning from a simulated agronomic teacher, not a physics-informed neural network. NDVI imputation currently precedes the grouped split. WSPT is a heuristic for parallel lanes and power windows, not a proof of optimal constrained scheduling.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Actual screenshot crops from presentation/screenshots/03_advisor.png and 02b_map_zoom.png. Example MM-MD-0110 is in the summer dry-spell scenario: 22.4 hours pumping, 1,120 cubic metres, 100.2 t/ha predicted yield, 1.55% predicted loss after a five-day delay. These values are scenario outputs, not measured farm outcomes. Capture date in the original screenshot: 30 September 2026. Chatbot: src/engine/chat.js.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Source: models/metrics.json. Regression baselines are Linear Regression, classifiers use Logistic Regression. Timing baseline MAE 2.5796 days, ensemble 0.6942 days. Scheduler: report/data/results.json, schedule key, Hosur, 20 pumps, windows 06:00-10:00 and 17:00-20:00, three days. Optimised estimated cane loss 80.23 t, FCFS 85.60 t. Software tests: 23 passed on 19 October 2026. Results assess generated labels and scenario simulations, with no field trial.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Sources: current source code, models/metrics.json, report/data/extra.json and execution of node --test test/api.test.js test/engine.test.js test/models.test.js. Live feed connectors, authenticated production operation and automatic feedback retraining are proposed work.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[1] R. G. Allen, L. S. Pereira, D. Raes, and M. Smith, Crop Evapotranspiration: Guidelines for Computing Crop Water Requirements, FAO Irrigation and Drainage Paper 56. Rome: FAO, 1998. https://www.fao.org/4/x0490e/x0490e00.htm</a:t>
            </a:r>
          </a:p>
          <a:p>
            <a:r>
              <a:t>[2] J. Doorenbos and A. H. Kassam, Yield Response to Water, FAO Irrigation and Drainage Paper 33. Rome: FAO, 1979. Bibliographic record: https://www.fao.org/4/y3655e/y3655e03.htm</a:t>
            </a:r>
          </a:p>
          <a:p>
            <a:r>
              <a:t>[3] C. Kamienski et al., "Smart Water Management Platform: IoT-Based Precision Irrigation for Agriculture," Sensors, vol. 19, no. 2, article 276, 2019. doi: 10.3390/s19020276. https://www.mdpi.com/1424-8220/19/2/276</a:t>
            </a:r>
          </a:p>
          <a:p>
            <a:r>
              <a:t>[4] L. Breiman, "Random forests," Machine Learning, vol. 45, pp. 5-32, 2001. doi: 10.1023/A:1010933404324. https://doi.org/10.1023/A:1010933404324</a:t>
            </a:r>
          </a:p>
          <a:p>
            <a:r>
              <a:t>[5] J. H. Friedman, "Greedy function approximation: A gradient boosting machine," The Annals of Statistics, vol. 29, no. 5, pp. 1189-1232, 2001. doi: 10.1214/aos/1013203451. https://doi.org/10.1214/aos/1013203451</a:t>
            </a:r>
          </a:p>
          <a:p>
            <a:r>
              <a:t>[6] F. Pedregosa et al., "Scikit-learn: Machine Learning in Python," Journal of Machine Learning Research, vol. 12, pp. 2825-2830, 2011. https://www.jmlr.org/papers/v12/pedregosa11a.html</a:t>
            </a:r>
          </a:p>
          <a:p>
            <a:r>
              <a:t>[7] Scikit-learn developers, "GroupShuffleSplit," official API documentation. https://scikit-learn.org/stable/modules/generated/sklearn.model_selection.GroupShuffleSplit.html</a:t>
            </a:r>
          </a:p>
          <a:p>
            <a:r>
              <a:t>[8] Express contributors, "Express 5.x API," official documentation. https://expressjs.com/en/5x/api.html</a:t>
            </a:r>
          </a:p>
          <a:p>
            <a:r>
              <a:t>[9] Leaflet contributors, "Leaflet API reference," official documentation. https://leafletjs.com/reference.html</a:t>
            </a:r>
          </a:p>
          <a:p>
            <a:r>
              <a:t>[10] K. Verma and K. Soni, Smart Moisture Advisor, project implementation and repository artifacts, Interior-Gardener/SMA, local main checkout reviewed 19 October 2026. https://github.com/Interior-Gardener/SMA. Evidence: ml/train.py, ml/agronomy.py, src/, models/metrics.json, models/test_fixtures.json, report/data/results.json, report/data/extra.json, and presentation/screenshots/.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Closing slide follows the institution-branded template. The original chemistry-themed closing image has been replaced.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1002" Type="http://schemas.openxmlformats.org/officeDocument/2006/relationships/image" Target="../media/sma_architecture.png"/><Relationship Id="rIdSMANotes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1002" Type="http://schemas.openxmlformats.org/officeDocument/2006/relationships/image" Target="../media/sma_advisor.png"/><Relationship Id="rIdSMA1004" Type="http://schemas.openxmlformats.org/officeDocument/2006/relationships/image" Target="../media/sma_map.png"/><Relationship Id="rIdSMANotes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1003" Type="http://schemas.openxmlformats.org/officeDocument/2006/relationships/image" Target="../media/sma_scheduler.png"/><Relationship Id="rIdSMANotes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SMANotes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SMA shape 1001"/>
          <p:cNvSpPr txBox="1"/>
          <p:nvPr/>
        </p:nvSpPr>
        <p:spPr>
          <a:xfrm>
            <a:off x="1371600" y="1481328"/>
            <a:ext cx="1051560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Title</a:t>
            </a:r>
            <a:endParaRPr sz="3200"/>
          </a:p>
        </p:txBody>
      </p:sp>
      <p:sp>
        <p:nvSpPr>
          <p:cNvPr id="1002" name="SMA shape 1002"/>
          <p:cNvSpPr txBox="1"/>
          <p:nvPr/>
        </p:nvSpPr>
        <p:spPr>
          <a:xfrm>
            <a:off x="1417320" y="2148840"/>
            <a:ext cx="1037844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Smart Moisture Advisor (SMA)</a:t>
            </a:r>
            <a:endParaRPr sz="3000"/>
          </a:p>
        </p:txBody>
      </p:sp>
      <p:sp>
        <p:nvSpPr>
          <p:cNvPr id="1003" name="SMA shape 1003"/>
          <p:cNvSpPr txBox="1"/>
          <p:nvPr/>
        </p:nvSpPr>
        <p:spPr>
          <a:xfrm>
            <a:off x="1417320" y="2761488"/>
            <a:ext cx="1037844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AI-driven irrigation advisory system for sugarcane</a:t>
            </a:r>
            <a:endParaRPr sz="2500"/>
          </a:p>
        </p:txBody>
      </p:sp>
      <p:sp>
        <p:nvSpPr>
          <p:cNvPr id="1004" name="SMA shape 1004"/>
          <p:cNvSpPr txBox="1"/>
          <p:nvPr/>
        </p:nvSpPr>
        <p:spPr>
          <a:xfrm>
            <a:off x="1417320" y="3675888"/>
            <a:ext cx="10378440" cy="114300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Members</a:t>
            </a:r>
            <a:endParaRPr sz="2500"/>
          </a:p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Kartik Verma</a:t>
            </a:r>
            <a:endParaRPr sz="2500"/>
          </a:p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Kushal Soni</a:t>
            </a:r>
            <a:endParaRPr sz="2500"/>
          </a:p>
        </p:txBody>
      </p:sp>
      <p:sp>
        <p:nvSpPr>
          <p:cNvPr id="1005" name="SMA shape 1005"/>
          <p:cNvSpPr txBox="1"/>
          <p:nvPr/>
        </p:nvSpPr>
        <p:spPr>
          <a:xfrm>
            <a:off x="1417320" y="5120640"/>
            <a:ext cx="103784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Guide: Dr. Nilesh Yadav</a:t>
            </a:r>
            <a:endParaRPr sz="2500"/>
          </a:p>
        </p:txBody>
      </p:sp>
      <p:sp>
        <p:nvSpPr>
          <p:cNvPr id="1006" name="SMA shape 1006"/>
          <p:cNvSpPr txBox="1"/>
          <p:nvPr/>
        </p:nvSpPr>
        <p:spPr>
          <a:xfrm>
            <a:off x="1417320" y="5806440"/>
            <a:ext cx="1037844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Department of Computer Engineering   2026-27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Outline of Presentation</a:t>
            </a:r>
            <a:endParaRPr sz="3200"/>
          </a:p>
        </p:txBody>
      </p:sp>
      <p:sp>
        <p:nvSpPr>
          <p:cNvPr id="1002" name="SMA shape 1002"/>
          <p:cNvSpPr txBox="1"/>
          <p:nvPr/>
        </p:nvSpPr>
        <p:spPr>
          <a:xfrm>
            <a:off x="1508760" y="2057400"/>
            <a:ext cx="10149840" cy="402336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Summary / Finding of Literature Survey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Design &amp; Architecture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Methodology and Implementation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Application Outputs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Results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Conclusion and Future Scope</a:t>
            </a:r>
            <a:endParaRPr sz="25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3200"/>
          </a:p>
        </p:txBody>
      </p:sp>
      <p:sp>
        <p:nvSpPr>
          <p:cNvPr id="1002" name="SMA shape 1002"/>
          <p:cNvSpPr txBox="1"/>
          <p:nvPr/>
        </p:nvSpPr>
        <p:spPr>
          <a:xfrm>
            <a:off x="1508760" y="2103120"/>
            <a:ext cx="10241280" cy="406908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SMA supports sugarcane irrigation decisions for 1,000 plots in Mandya, Karnataka.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Plot vegetation, soil and climate inputs produce irrigation timing, water volume and pump duration.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interface links rain-aware advice with fertigation, risk estimates, a map and pump scheduling.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Seven predictive models learn agronomy-generated labels. Field outcomes remain unverified.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Advisories support English, Kannada, Hindi and Marathi, with accept or override feedback.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Summary / Finding of Literature Survey</a:t>
            </a:r>
            <a:endParaRPr sz="3200"/>
          </a:p>
        </p:txBody>
      </p:sp>
      <p:graphicFrame>
        <p:nvGraphicFramePr>
          <p:cNvPr id="1002" name="SMA editable table"/>
          <p:cNvGraphicFramePr/>
          <p:nvPr/>
        </p:nvGraphicFramePr>
        <p:xfrm>
          <a:off x="1435608" y="2057400"/>
          <a:ext cx="10332720" cy="4005072"/>
        </p:xfrm>
        <a:graphic>
          <a:graphicData uri="http://schemas.openxmlformats.org/drawingml/2006/table">
            <a:tbl>
              <a:tblPr firstRow="1" bandRow="1"/>
              <a:tblGrid>
                <a:gridCol w="2468880"/>
                <a:gridCol w="3703320"/>
                <a:gridCol w="4160520"/>
              </a:tblGrid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Source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E8EDE8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Approach or finding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E8EDE8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Gap relative to SMA scope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E8EDE8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Allen et al. [1]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FAO crop water balance and ET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Requires suitable local inputs and calibration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Doorenbos and Kassam [2]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Yield response to water deficit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Does not provide an integrated plot interface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Kamienski et al. [3]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SWAMP IoT platform and pilots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Deployment and scaling require infrastructure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Breiman [4] and Friedman [5]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Random Forest and Gradient Boosting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Require representative targets and evaluation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Current project [10]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Integrates advice, maps and scheduling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Independent field validation is still needed</a:t>
                      </a:r>
                      <a:endParaRPr sz="18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03" name="SMA shape 1003"/>
          <p:cNvSpPr txBox="1"/>
          <p:nvPr/>
        </p:nvSpPr>
        <p:spPr>
          <a:xfrm>
            <a:off x="1463040" y="6172200"/>
            <a:ext cx="1024128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comparison identifies project requirements, without claiming superiority over the cited systems.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System Design &amp; Architecture</a:t>
            </a:r>
            <a:endParaRPr sz="3200"/>
          </a:p>
        </p:txBody>
      </p:sp>
      <p:pic>
        <p:nvPicPr>
          <p:cNvPr id="1002" name="SMA architecture" descr="Architecture derived from source code"/>
          <p:cNvPicPr/>
          <p:nvPr/>
        </p:nvPicPr>
        <p:blipFill>
          <a:blip r:embed="rIdSMA1002"/>
          <a:stretch>
            <a:fillRect/>
          </a:stretch>
        </p:blipFill>
        <p:spPr>
          <a:xfrm>
            <a:off x="2728807" y="2011680"/>
            <a:ext cx="7755467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Proposed Methodology and Implementation</a:t>
            </a:r>
            <a:endParaRPr sz="3200"/>
          </a:p>
        </p:txBody>
      </p:sp>
      <p:sp>
        <p:nvSpPr>
          <p:cNvPr id="1002" name="SMA shape 1002"/>
          <p:cNvSpPr txBox="1"/>
          <p:nvPr/>
        </p:nvSpPr>
        <p:spPr>
          <a:xfrm>
            <a:off x="1508760" y="2057400"/>
            <a:ext cx="5897880" cy="416052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Clean plot data and create twelve scenarios per plot.</a:t>
            </a:r>
            <a:endParaRPr sz="22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noisy FAO-based labels for irrigation, crop demand and risk.</a:t>
            </a:r>
            <a:endParaRPr sz="22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Split by plot: 800 training plots and 200 held-out plots.</a:t>
            </a:r>
            <a:endParaRPr sz="22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 ensembles, compare linear or logistic baselines, then export JSON.</a:t>
            </a:r>
            <a:endParaRPr sz="22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Serve predictions through Express and apply hydraulics, fertigation and scheduling rules.</a:t>
            </a:r>
            <a:endParaRPr sz="2200"/>
          </a:p>
        </p:txBody>
      </p:sp>
      <p:sp>
        <p:nvSpPr>
          <p:cNvPr id="1003" name="SMA shape 1003"/>
          <p:cNvSpPr txBox="1"/>
          <p:nvPr/>
        </p:nvSpPr>
        <p:spPr>
          <a:xfrm>
            <a:off x="7909560" y="2084832"/>
            <a:ext cx="3794760" cy="530352"/>
          </a:xfrm>
          <a:prstGeom prst="rect">
            <a:avLst/>
          </a:prstGeom>
          <a:solidFill>
            <a:srgbClr val="F0F4EF"/>
          </a:solidFill>
          <a:ln w="12700">
            <a:solidFill>
              <a:srgbClr val="70846F"/>
            </a:solidFill>
          </a:ln>
        </p:spPr>
        <p:txBody>
          <a:bodyPr wrap="square" lIns="64008" rIns="64008" tIns="64008" bIns="6400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1,000 plot records</a:t>
            </a:r>
            <a:endParaRPr sz="1900"/>
          </a:p>
        </p:txBody>
      </p:sp>
      <p:sp>
        <p:nvSpPr>
          <p:cNvPr id="1004" name="SMA shape 1004"/>
          <p:cNvSpPr txBox="1"/>
          <p:nvPr/>
        </p:nvSpPr>
        <p:spPr>
          <a:xfrm>
            <a:off x="9646920" y="2633472"/>
            <a:ext cx="274320" cy="192024"/>
          </a:xfrm>
          <a:prstGeom prst="downArrow">
            <a:avLst/>
          </a:prstGeom>
          <a:solidFill>
            <a:srgbClr val="70846F"/>
          </a:solidFill>
          <a:ln w="12700">
            <a:noFill/>
          </a:ln>
        </p:spPr>
      </p:sp>
      <p:sp>
        <p:nvSpPr>
          <p:cNvPr id="1005" name="SMA shape 1005"/>
          <p:cNvSpPr txBox="1"/>
          <p:nvPr/>
        </p:nvSpPr>
        <p:spPr>
          <a:xfrm>
            <a:off x="7909560" y="2871216"/>
            <a:ext cx="3794760" cy="530352"/>
          </a:xfrm>
          <a:prstGeom prst="rect">
            <a:avLst/>
          </a:prstGeom>
          <a:solidFill>
            <a:srgbClr val="F0F4EF"/>
          </a:solidFill>
          <a:ln w="12700">
            <a:solidFill>
              <a:srgbClr val="70846F"/>
            </a:solidFill>
          </a:ln>
        </p:spPr>
        <p:txBody>
          <a:bodyPr wrap="square" lIns="64008" rIns="64008" tIns="64008" bIns="6400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12,000 generated scenarios</a:t>
            </a:r>
            <a:endParaRPr sz="1900"/>
          </a:p>
        </p:txBody>
      </p:sp>
      <p:sp>
        <p:nvSpPr>
          <p:cNvPr id="1006" name="SMA shape 1006"/>
          <p:cNvSpPr txBox="1"/>
          <p:nvPr/>
        </p:nvSpPr>
        <p:spPr>
          <a:xfrm>
            <a:off x="9646920" y="3419856"/>
            <a:ext cx="274320" cy="192024"/>
          </a:xfrm>
          <a:prstGeom prst="downArrow">
            <a:avLst/>
          </a:prstGeom>
          <a:solidFill>
            <a:srgbClr val="70846F"/>
          </a:solidFill>
          <a:ln w="12700">
            <a:noFill/>
          </a:ln>
        </p:spPr>
      </p:sp>
      <p:sp>
        <p:nvSpPr>
          <p:cNvPr id="1007" name="SMA shape 1007"/>
          <p:cNvSpPr txBox="1"/>
          <p:nvPr/>
        </p:nvSpPr>
        <p:spPr>
          <a:xfrm>
            <a:off x="7909560" y="3657600"/>
            <a:ext cx="3794760" cy="530352"/>
          </a:xfrm>
          <a:prstGeom prst="rect">
            <a:avLst/>
          </a:prstGeom>
          <a:solidFill>
            <a:srgbClr val="F0F4EF"/>
          </a:solidFill>
          <a:ln w="12700">
            <a:solidFill>
              <a:srgbClr val="70846F"/>
            </a:solidFill>
          </a:ln>
        </p:spPr>
        <p:txBody>
          <a:bodyPr wrap="square" lIns="64008" rIns="64008" tIns="64008" bIns="6400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Grouped train / test evaluation</a:t>
            </a:r>
            <a:endParaRPr sz="1900"/>
          </a:p>
        </p:txBody>
      </p:sp>
      <p:sp>
        <p:nvSpPr>
          <p:cNvPr id="1008" name="SMA shape 1008"/>
          <p:cNvSpPr txBox="1"/>
          <p:nvPr/>
        </p:nvSpPr>
        <p:spPr>
          <a:xfrm>
            <a:off x="9646920" y="4206240"/>
            <a:ext cx="274320" cy="192024"/>
          </a:xfrm>
          <a:prstGeom prst="downArrow">
            <a:avLst/>
          </a:prstGeom>
          <a:solidFill>
            <a:srgbClr val="70846F"/>
          </a:solidFill>
          <a:ln w="12700">
            <a:noFill/>
          </a:ln>
        </p:spPr>
      </p:sp>
      <p:sp>
        <p:nvSpPr>
          <p:cNvPr id="1009" name="SMA shape 1009"/>
          <p:cNvSpPr txBox="1"/>
          <p:nvPr/>
        </p:nvSpPr>
        <p:spPr>
          <a:xfrm>
            <a:off x="7909560" y="4443984"/>
            <a:ext cx="3794760" cy="530352"/>
          </a:xfrm>
          <a:prstGeom prst="rect">
            <a:avLst/>
          </a:prstGeom>
          <a:solidFill>
            <a:srgbClr val="F0F4EF"/>
          </a:solidFill>
          <a:ln w="12700">
            <a:solidFill>
              <a:srgbClr val="70846F"/>
            </a:solidFill>
          </a:ln>
        </p:spPr>
        <p:txBody>
          <a:bodyPr wrap="square" lIns="64008" rIns="64008" tIns="64008" bIns="6400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JSON model export</a:t>
            </a:r>
            <a:endParaRPr sz="1900"/>
          </a:p>
        </p:txBody>
      </p:sp>
      <p:sp>
        <p:nvSpPr>
          <p:cNvPr id="1010" name="SMA shape 1010"/>
          <p:cNvSpPr txBox="1"/>
          <p:nvPr/>
        </p:nvSpPr>
        <p:spPr>
          <a:xfrm>
            <a:off x="9646920" y="4992624"/>
            <a:ext cx="274320" cy="192024"/>
          </a:xfrm>
          <a:prstGeom prst="downArrow">
            <a:avLst/>
          </a:prstGeom>
          <a:solidFill>
            <a:srgbClr val="70846F"/>
          </a:solidFill>
          <a:ln w="12700">
            <a:noFill/>
          </a:ln>
        </p:spPr>
      </p:sp>
      <p:sp>
        <p:nvSpPr>
          <p:cNvPr id="1011" name="SMA shape 1011"/>
          <p:cNvSpPr txBox="1"/>
          <p:nvPr/>
        </p:nvSpPr>
        <p:spPr>
          <a:xfrm>
            <a:off x="7909560" y="5230368"/>
            <a:ext cx="3794760" cy="530352"/>
          </a:xfrm>
          <a:prstGeom prst="rect">
            <a:avLst/>
          </a:prstGeom>
          <a:solidFill>
            <a:srgbClr val="F0F4EF"/>
          </a:solidFill>
          <a:ln w="12700">
            <a:solidFill>
              <a:srgbClr val="70846F"/>
            </a:solidFill>
          </a:ln>
        </p:spPr>
        <p:txBody>
          <a:bodyPr wrap="square" lIns="64008" rIns="64008" tIns="64008" bIns="6400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JavaScript advisory and scheduler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Application Outputs</a:t>
            </a:r>
            <a:endParaRPr sz="3200"/>
          </a:p>
        </p:txBody>
      </p:sp>
      <p:pic>
        <p:nvPicPr>
          <p:cNvPr id="1002" name="SMA advisor" descr="Actual application screenshot crop"/>
          <p:cNvPicPr/>
          <p:nvPr/>
        </p:nvPicPr>
        <p:blipFill>
          <a:blip r:embed="rIdSMA1002"/>
          <a:stretch>
            <a:fillRect/>
          </a:stretch>
        </p:blipFill>
        <p:spPr>
          <a:xfrm>
            <a:off x="1711757" y="2057400"/>
            <a:ext cx="4486046" cy="2514600"/>
          </a:xfrm>
          <a:prstGeom prst="rect">
            <a:avLst/>
          </a:prstGeom>
        </p:spPr>
      </p:pic>
      <p:sp>
        <p:nvSpPr>
          <p:cNvPr id="1003" name="SMA shape 1003"/>
          <p:cNvSpPr txBox="1"/>
          <p:nvPr/>
        </p:nvSpPr>
        <p:spPr>
          <a:xfrm>
            <a:off x="1463040" y="4617720"/>
            <a:ext cx="49834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Plot advice, yield, fertigation and risk</a:t>
            </a:r>
            <a:endParaRPr sz="1800"/>
          </a:p>
        </p:txBody>
      </p:sp>
      <p:pic>
        <p:nvPicPr>
          <p:cNvPr id="1004" name="SMA map" descr="Actual application screenshot crop"/>
          <p:cNvPicPr/>
          <p:nvPr/>
        </p:nvPicPr>
        <p:blipFill>
          <a:blip r:embed="rIdSMA1004"/>
          <a:stretch>
            <a:fillRect/>
          </a:stretch>
        </p:blipFill>
        <p:spPr>
          <a:xfrm>
            <a:off x="6917167" y="2057400"/>
            <a:ext cx="4545106" cy="2514600"/>
          </a:xfrm>
          <a:prstGeom prst="rect">
            <a:avLst/>
          </a:prstGeom>
        </p:spPr>
      </p:pic>
      <p:sp>
        <p:nvSpPr>
          <p:cNvPr id="1005" name="SMA shape 1005"/>
          <p:cNvSpPr txBox="1"/>
          <p:nvPr/>
        </p:nvSpPr>
        <p:spPr>
          <a:xfrm>
            <a:off x="6812280" y="4617720"/>
            <a:ext cx="47548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Geofenced plots coloured by stress</a:t>
            </a:r>
            <a:endParaRPr sz="1800"/>
          </a:p>
        </p:txBody>
      </p:sp>
      <p:sp>
        <p:nvSpPr>
          <p:cNvPr id="1006" name="SMA shape 1006"/>
          <p:cNvSpPr txBox="1"/>
          <p:nvPr/>
        </p:nvSpPr>
        <p:spPr>
          <a:xfrm>
            <a:off x="1508760" y="5148072"/>
            <a:ext cx="10104120" cy="114300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What-if Simulator recomputes outputs when field conditions change.</a:t>
            </a:r>
            <a:endParaRPr sz="20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Krishi Mitra uses keyword intent detection in four supported languages.</a:t>
            </a:r>
            <a:endParaRPr sz="20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Farmers and supervisors can accept or override the recommendation.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Results</a:t>
            </a:r>
            <a:endParaRPr sz="3200"/>
          </a:p>
        </p:txBody>
      </p:sp>
      <p:graphicFrame>
        <p:nvGraphicFramePr>
          <p:cNvPr id="1002" name="SMA editable table"/>
          <p:cNvGraphicFramePr/>
          <p:nvPr/>
        </p:nvGraphicFramePr>
        <p:xfrm>
          <a:off x="1435608" y="2057400"/>
          <a:ext cx="7543800" cy="3145536"/>
        </p:xfrm>
        <a:graphic>
          <a:graphicData uri="http://schemas.openxmlformats.org/drawingml/2006/table">
            <a:tbl>
              <a:tblPr firstRow="1" bandRow="1"/>
              <a:tblGrid>
                <a:gridCol w="3520440"/>
                <a:gridCol w="2011680"/>
                <a:gridCol w="2011680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Target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E8EDE8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Ensemble score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E8EDE8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Baseline score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E8EDE8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Irrigation timing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0.9646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0.7444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Crop water requirement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0.9768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0.8843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Irrigation depth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0.9745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0.6206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Cane yield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0.8918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0.5709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Delay loss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0.9755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0.4990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Water stress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87.83%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83.46%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Disease risk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87.29%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81.96%</a:t>
                      </a:r>
                      <a:endParaRPr sz="1700"/>
                    </a:p>
                  </a:txBody>
                  <a:tcPr marL="73152" marR="73152" marT="45720" marB="45720" anchor="ctr">
                    <a:solidFill>
                      <a:srgbClr val="F5F8F3"/>
                    </a:solidFill>
                    <a:lnL w="6350">
                      <a:solidFill>
                        <a:srgbClr val="A8B4A8"/>
                      </a:solidFill>
                    </a:lnL>
                    <a:lnR w="6350">
                      <a:solidFill>
                        <a:srgbClr val="A8B4A8"/>
                      </a:solidFill>
                    </a:lnR>
                    <a:lnT w="6350">
                      <a:solidFill>
                        <a:srgbClr val="A8B4A8"/>
                      </a:solidFill>
                    </a:lnT>
                    <a:lnB w="6350">
                      <a:solidFill>
                        <a:srgbClr val="A8B4A8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03" name="SMA scheduler" descr="Actual application screenshot crop"/>
          <p:cNvPicPr/>
          <p:nvPr/>
        </p:nvPicPr>
        <p:blipFill>
          <a:blip r:embed="rIdSMA1003"/>
          <a:stretch>
            <a:fillRect/>
          </a:stretch>
        </p:blipFill>
        <p:spPr>
          <a:xfrm>
            <a:off x="9171432" y="2270471"/>
            <a:ext cx="2468880" cy="899738"/>
          </a:xfrm>
          <a:prstGeom prst="rect">
            <a:avLst/>
          </a:prstGeom>
        </p:spPr>
      </p:pic>
      <p:sp>
        <p:nvSpPr>
          <p:cNvPr id="1004" name="SMA shape 1004"/>
          <p:cNvSpPr txBox="1"/>
          <p:nvPr/>
        </p:nvSpPr>
        <p:spPr>
          <a:xfrm>
            <a:off x="9171432" y="3520440"/>
            <a:ext cx="2468880" cy="132588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Hosur schedule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 plots completed vs 5</a:t>
            </a:r>
            <a:endParaRPr sz="18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5.37 t less estimated loss</a:t>
            </a:r>
            <a:endParaRPr sz="1800"/>
          </a:p>
        </p:txBody>
      </p:sp>
      <p:sp>
        <p:nvSpPr>
          <p:cNvPr id="1005" name="SMA shape 1005"/>
          <p:cNvSpPr txBox="1"/>
          <p:nvPr/>
        </p:nvSpPr>
        <p:spPr>
          <a:xfrm>
            <a:off x="1508760" y="5623560"/>
            <a:ext cx="10058400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R-squared for regression, accuracy for classifiers. Timing MAE: 0.6942 days.</a:t>
            </a:r>
            <a:endParaRPr sz="19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Evaluation uses generated labels on held-out plots. Savings and cane loss are scenario estimates.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Conclusion and Future Scope</a:t>
            </a:r>
            <a:endParaRPr sz="3200"/>
          </a:p>
        </p:txBody>
      </p:sp>
      <p:sp>
        <p:nvSpPr>
          <p:cNvPr id="1002" name="SMA shape 1002"/>
          <p:cNvSpPr txBox="1"/>
          <p:nvPr/>
        </p:nvSpPr>
        <p:spPr>
          <a:xfrm>
            <a:off x="1508760" y="2103120"/>
            <a:ext cx="10241280" cy="406908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SMA integrates plot-level prediction, irrigation advice and power-window scheduling in a working web prototype.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JSON model export supports local JavaScript inference. All 23 existing software tests pass.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saved metrics show agreement with generated agronomic labels. Independent field validation is the main next step.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Future work: measured irrigation and yield records, verified weather feeds, actual planting dates and calibrated uncertainty.</a:t>
            </a:r>
            <a:endParaRPr sz="2400"/>
          </a:p>
          <a:p>
            <a:pPr algn="l" marL="201168" indent="-182880">
              <a:lnSpc>
                <a:spcPct val="105000"/>
              </a:lnSpc>
              <a:spcAft>
                <a:spcPts val="650"/>
              </a:spcAft>
              <a:buChar char="•"/>
            </a:pPr>
            <a:r>
              <a:rPr lang="en-IN"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Operational development: agronomist review, field pilots, role-based access and a reviewed retraining workflow.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389888" y="1417320"/>
            <a:ext cx="10424160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3200"/>
          </a:p>
        </p:txBody>
      </p:sp>
      <p:sp>
        <p:nvSpPr>
          <p:cNvPr id="1002" name="SMA shape 1002"/>
          <p:cNvSpPr txBox="1"/>
          <p:nvPr/>
        </p:nvSpPr>
        <p:spPr>
          <a:xfrm>
            <a:off x="1481328" y="2057400"/>
            <a:ext cx="10149840" cy="416052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Allen et al., Crop Evapotranspiration, FAO Paper 56, 1998. fao.org/4/x0490e/x0490e00.htm</a:t>
            </a:r>
            <a:endParaRPr sz="20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Doorenbos and Kassam, Yield Response to Water, FAO Paper 33, 1979.</a:t>
            </a:r>
            <a:endParaRPr sz="20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Kamienski et al., Smart Water Management Platform, Sensors 19(2), 276, 2019. doi:10.3390/s19020276</a:t>
            </a:r>
            <a:endParaRPr sz="20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Breiman, Random forests, Machine Learning 45, 5-32, 2001. doi:10.1023/A:1010933404324</a:t>
            </a:r>
            <a:endParaRPr sz="20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Friedman, A gradient boosting machine, Annals of Statistics 29(5), 1189-1232, 2001. doi:10.1214/aos/1013203451</a:t>
            </a:r>
            <a:endParaRPr sz="20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Pedregosa et al., Scikit-learn, JMLR 12, 2825-2830, 2011. jmlr.org/papers/v12/pedregosa11a.html</a:t>
            </a:r>
            <a:endParaRPr sz="2000"/>
          </a:p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[10] Verma and Soni, Smart Moisture Advisor source and saved outputs. github.com/Interior-Gardener/SMA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MA shape 1001"/>
          <p:cNvSpPr txBox="1"/>
          <p:nvPr/>
        </p:nvSpPr>
        <p:spPr>
          <a:xfrm>
            <a:off x="1463040" y="2651760"/>
            <a:ext cx="10149840" cy="7772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4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  <a:endParaRPr sz="4400"/>
          </a:p>
        </p:txBody>
      </p:sp>
      <p:sp>
        <p:nvSpPr>
          <p:cNvPr id="1002" name="SMA shape 1002"/>
          <p:cNvSpPr txBox="1"/>
          <p:nvPr/>
        </p:nvSpPr>
        <p:spPr>
          <a:xfrm>
            <a:off x="1463040" y="3749040"/>
            <a:ext cx="1014984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3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Smart Moisture Advisor</a:t>
            </a:r>
            <a:endParaRPr sz="3000"/>
          </a:p>
        </p:txBody>
      </p:sp>
      <p:sp>
        <p:nvSpPr>
          <p:cNvPr id="1003" name="SMA shape 1003"/>
          <p:cNvSpPr txBox="1"/>
          <p:nvPr/>
        </p:nvSpPr>
        <p:spPr>
          <a:xfrm>
            <a:off x="1463040" y="4709160"/>
            <a:ext cx="10149840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Kartik Verma and Kushal Soni</a:t>
            </a:r>
            <a:endParaRPr sz="2500"/>
          </a:p>
          <a:p>
            <a:pPr algn="ctr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2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Guide: Dr. Nilesh Yadav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F1BD8BD-466E-4908-8563-2001348EBEE5}">
  <we:reference id="cba9fc06-6fc9-492e-9525-923870a3b909" version="2.0.0.0" store="EXCatalog" storeType="EXCatalog"/>
  <we:alternateReferences>
    <we:reference id="WA200010215" version="2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601</Words>
  <Application>Microsoft Office PowerPoint</Application>
  <PresentationFormat>Widescreen</PresentationFormat>
  <Paragraphs>227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Noto Sans Symbols</vt:lpstr>
      <vt:lpstr>Times New Roman</vt:lpstr>
      <vt:lpstr>1_Office Theme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Kartik Verma and Kushal Soni</dc:creator>
  <cp:lastModifiedBy>COMP_FY_B_62_23/24_VERMA_KARTIK</cp:lastModifiedBy>
  <cp:revision>5</cp:revision>
  <dcterms:modified xsi:type="dcterms:W3CDTF">2026-10-19T14:34:41Z</dcterms:modified>
  <dc:title>Smart Moisture Advisor</dc:title>
  <dc:subject>Major project presentation</dc:subject>
</cp:coreProperties>
</file>